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71" r:id="rId4"/>
    <p:sldId id="258" r:id="rId5"/>
    <p:sldId id="278" r:id="rId6"/>
    <p:sldId id="274" r:id="rId7"/>
    <p:sldId id="260" r:id="rId8"/>
    <p:sldId id="279" r:id="rId9"/>
    <p:sldId id="283" r:id="rId10"/>
    <p:sldId id="264" r:id="rId11"/>
    <p:sldId id="265" r:id="rId12"/>
    <p:sldId id="266" r:id="rId13"/>
    <p:sldId id="263" r:id="rId14"/>
    <p:sldId id="273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80" autoAdjust="0"/>
  </p:normalViewPr>
  <p:slideViewPr>
    <p:cSldViewPr snapToGrid="0" snapToObjects="1">
      <p:cViewPr varScale="1">
        <p:scale>
          <a:sx n="84" d="100"/>
          <a:sy n="84" d="100"/>
        </p:scale>
        <p:origin x="1418" y="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96BBF1-AAE6-4747-8E61-EAE94389F7EC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75206D-990D-4872-8E4E-C669561E2735}">
      <dgm:prSet/>
      <dgm:spPr>
        <a:solidFill>
          <a:schemeClr val="tx1"/>
        </a:solidFill>
      </dgm:spPr>
      <dgm:t>
        <a:bodyPr/>
        <a:lstStyle/>
        <a:p>
          <a:r>
            <a:rPr lang="en-US"/>
            <a:t>RNA‑seq gene expression</a:t>
          </a:r>
        </a:p>
      </dgm:t>
    </dgm:pt>
    <dgm:pt modelId="{62302470-476D-4950-A031-424400423C4C}" type="parTrans" cxnId="{FD53418B-DA58-4E5E-B678-C0C3AAEACE9C}">
      <dgm:prSet/>
      <dgm:spPr/>
      <dgm:t>
        <a:bodyPr/>
        <a:lstStyle/>
        <a:p>
          <a:endParaRPr lang="en-US"/>
        </a:p>
      </dgm:t>
    </dgm:pt>
    <dgm:pt modelId="{677EB49D-2B0E-468E-87C6-91008C5D31F0}" type="sibTrans" cxnId="{FD53418B-DA58-4E5E-B678-C0C3AAEACE9C}">
      <dgm:prSet/>
      <dgm:spPr/>
      <dgm:t>
        <a:bodyPr/>
        <a:lstStyle/>
        <a:p>
          <a:endParaRPr lang="en-US"/>
        </a:p>
      </dgm:t>
    </dgm:pt>
    <dgm:pt modelId="{4C5297D8-1B7D-4F55-8369-878AA6828A27}">
      <dgm:prSet/>
      <dgm:spPr>
        <a:solidFill>
          <a:schemeClr val="tx1"/>
        </a:solidFill>
      </dgm:spPr>
      <dgm:t>
        <a:bodyPr/>
        <a:lstStyle/>
        <a:p>
          <a:r>
            <a:rPr lang="en-US"/>
            <a:t>Mutation calls (WES)</a:t>
          </a:r>
        </a:p>
      </dgm:t>
    </dgm:pt>
    <dgm:pt modelId="{28E7A118-0BFD-4499-8C66-2C3269584A4A}" type="parTrans" cxnId="{01EE8E01-D895-4E70-B093-4037A7F12EAA}">
      <dgm:prSet/>
      <dgm:spPr/>
      <dgm:t>
        <a:bodyPr/>
        <a:lstStyle/>
        <a:p>
          <a:endParaRPr lang="en-US"/>
        </a:p>
      </dgm:t>
    </dgm:pt>
    <dgm:pt modelId="{1E1FC95D-D6B2-4436-BED9-128336469807}" type="sibTrans" cxnId="{01EE8E01-D895-4E70-B093-4037A7F12EAA}">
      <dgm:prSet/>
      <dgm:spPr/>
      <dgm:t>
        <a:bodyPr/>
        <a:lstStyle/>
        <a:p>
          <a:endParaRPr lang="en-US"/>
        </a:p>
      </dgm:t>
    </dgm:pt>
    <dgm:pt modelId="{8738B6C2-1E78-4F8E-9D09-98D1B3D7F781}">
      <dgm:prSet/>
      <dgm:spPr>
        <a:solidFill>
          <a:schemeClr val="tx1"/>
        </a:solidFill>
      </dgm:spPr>
      <dgm:t>
        <a:bodyPr/>
        <a:lstStyle/>
        <a:p>
          <a:r>
            <a:rPr lang="en-US"/>
            <a:t>AML malignant cell‑state programs</a:t>
          </a:r>
        </a:p>
      </dgm:t>
    </dgm:pt>
    <dgm:pt modelId="{3D2090B8-DC0A-43ED-8C39-8D4D36292D23}" type="parTrans" cxnId="{F25051DF-0441-47B8-902F-5B7AF91B2FCE}">
      <dgm:prSet/>
      <dgm:spPr/>
      <dgm:t>
        <a:bodyPr/>
        <a:lstStyle/>
        <a:p>
          <a:endParaRPr lang="en-US"/>
        </a:p>
      </dgm:t>
    </dgm:pt>
    <dgm:pt modelId="{092FEB73-4B66-4B1B-AFA7-95FF64855E6D}" type="sibTrans" cxnId="{F25051DF-0441-47B8-902F-5B7AF91B2FCE}">
      <dgm:prSet/>
      <dgm:spPr/>
      <dgm:t>
        <a:bodyPr/>
        <a:lstStyle/>
        <a:p>
          <a:endParaRPr lang="en-US"/>
        </a:p>
      </dgm:t>
    </dgm:pt>
    <dgm:pt modelId="{79D7EDE3-6F74-4CC2-9041-49B6C5C2F5CA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Clinical annotations and venetoclax drug response (AUC)</a:t>
          </a:r>
        </a:p>
      </dgm:t>
    </dgm:pt>
    <dgm:pt modelId="{950B924E-7C4D-40BD-AFBD-3D776CF44047}" type="parTrans" cxnId="{F6A744C4-626C-4AE4-9810-1BBCBB48211B}">
      <dgm:prSet/>
      <dgm:spPr/>
      <dgm:t>
        <a:bodyPr/>
        <a:lstStyle/>
        <a:p>
          <a:endParaRPr lang="en-US"/>
        </a:p>
      </dgm:t>
    </dgm:pt>
    <dgm:pt modelId="{FA5A89BF-E32D-4CE9-A28F-754D52D9591E}" type="sibTrans" cxnId="{F6A744C4-626C-4AE4-9810-1BBCBB48211B}">
      <dgm:prSet/>
      <dgm:spPr/>
      <dgm:t>
        <a:bodyPr/>
        <a:lstStyle/>
        <a:p>
          <a:endParaRPr lang="en-US"/>
        </a:p>
      </dgm:t>
    </dgm:pt>
    <dgm:pt modelId="{6CE25CA0-ED59-40D2-94F0-572BF6DBEC8F}" type="pres">
      <dgm:prSet presAssocID="{8496BBF1-AAE6-4747-8E61-EAE94389F7EC}" presName="matrix" presStyleCnt="0">
        <dgm:presLayoutVars>
          <dgm:chMax val="1"/>
          <dgm:dir/>
          <dgm:resizeHandles val="exact"/>
        </dgm:presLayoutVars>
      </dgm:prSet>
      <dgm:spPr/>
    </dgm:pt>
    <dgm:pt modelId="{F48FDD27-A316-4F37-9FE6-C1F5F958B32F}" type="pres">
      <dgm:prSet presAssocID="{8496BBF1-AAE6-4747-8E61-EAE94389F7EC}" presName="diamond" presStyleLbl="bgShp" presStyleIdx="0" presStyleCnt="1" custLinFactNeighborX="-1729" custLinFactNeighborY="29946"/>
      <dgm:spPr/>
    </dgm:pt>
    <dgm:pt modelId="{AAF790E1-A31B-4232-A33B-DF6817C280C3}" type="pres">
      <dgm:prSet presAssocID="{8496BBF1-AAE6-4747-8E61-EAE94389F7E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FD27C52-5235-4E65-AFDD-6D46EE2D53F2}" type="pres">
      <dgm:prSet presAssocID="{8496BBF1-AAE6-4747-8E61-EAE94389F7E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BE5F1EE-F0EE-418A-BC00-069955C5AB5F}" type="pres">
      <dgm:prSet presAssocID="{8496BBF1-AAE6-4747-8E61-EAE94389F7E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9258403-8614-4543-A17D-CA80E45BE8E4}" type="pres">
      <dgm:prSet presAssocID="{8496BBF1-AAE6-4747-8E61-EAE94389F7E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EE8E01-D895-4E70-B093-4037A7F12EAA}" srcId="{8496BBF1-AAE6-4747-8E61-EAE94389F7EC}" destId="{4C5297D8-1B7D-4F55-8369-878AA6828A27}" srcOrd="1" destOrd="0" parTransId="{28E7A118-0BFD-4499-8C66-2C3269584A4A}" sibTransId="{1E1FC95D-D6B2-4436-BED9-128336469807}"/>
    <dgm:cxn modelId="{BAFF7003-9D92-4174-8A85-98EF51A0E596}" type="presOf" srcId="{8496BBF1-AAE6-4747-8E61-EAE94389F7EC}" destId="{6CE25CA0-ED59-40D2-94F0-572BF6DBEC8F}" srcOrd="0" destOrd="0" presId="urn:microsoft.com/office/officeart/2005/8/layout/matrix3"/>
    <dgm:cxn modelId="{18871745-B2EC-412B-9216-7D441E2E63BA}" type="presOf" srcId="{4B75206D-990D-4872-8E4E-C669561E2735}" destId="{AAF790E1-A31B-4232-A33B-DF6817C280C3}" srcOrd="0" destOrd="0" presId="urn:microsoft.com/office/officeart/2005/8/layout/matrix3"/>
    <dgm:cxn modelId="{6A34D54D-9AC3-469E-999E-9D6F737F19A5}" type="presOf" srcId="{79D7EDE3-6F74-4CC2-9041-49B6C5C2F5CA}" destId="{69258403-8614-4543-A17D-CA80E45BE8E4}" srcOrd="0" destOrd="0" presId="urn:microsoft.com/office/officeart/2005/8/layout/matrix3"/>
    <dgm:cxn modelId="{05D07B54-BA04-4F5A-A391-5B4857CC7475}" type="presOf" srcId="{8738B6C2-1E78-4F8E-9D09-98D1B3D7F781}" destId="{FBE5F1EE-F0EE-418A-BC00-069955C5AB5F}" srcOrd="0" destOrd="0" presId="urn:microsoft.com/office/officeart/2005/8/layout/matrix3"/>
    <dgm:cxn modelId="{FD53418B-DA58-4E5E-B678-C0C3AAEACE9C}" srcId="{8496BBF1-AAE6-4747-8E61-EAE94389F7EC}" destId="{4B75206D-990D-4872-8E4E-C669561E2735}" srcOrd="0" destOrd="0" parTransId="{62302470-476D-4950-A031-424400423C4C}" sibTransId="{677EB49D-2B0E-468E-87C6-91008C5D31F0}"/>
    <dgm:cxn modelId="{23783CB5-B5F1-4E99-BF92-AFA5BD41877A}" type="presOf" srcId="{4C5297D8-1B7D-4F55-8369-878AA6828A27}" destId="{EFD27C52-5235-4E65-AFDD-6D46EE2D53F2}" srcOrd="0" destOrd="0" presId="urn:microsoft.com/office/officeart/2005/8/layout/matrix3"/>
    <dgm:cxn modelId="{F6A744C4-626C-4AE4-9810-1BBCBB48211B}" srcId="{8496BBF1-AAE6-4747-8E61-EAE94389F7EC}" destId="{79D7EDE3-6F74-4CC2-9041-49B6C5C2F5CA}" srcOrd="3" destOrd="0" parTransId="{950B924E-7C4D-40BD-AFBD-3D776CF44047}" sibTransId="{FA5A89BF-E32D-4CE9-A28F-754D52D9591E}"/>
    <dgm:cxn modelId="{F25051DF-0441-47B8-902F-5B7AF91B2FCE}" srcId="{8496BBF1-AAE6-4747-8E61-EAE94389F7EC}" destId="{8738B6C2-1E78-4F8E-9D09-98D1B3D7F781}" srcOrd="2" destOrd="0" parTransId="{3D2090B8-DC0A-43ED-8C39-8D4D36292D23}" sibTransId="{092FEB73-4B66-4B1B-AFA7-95FF64855E6D}"/>
    <dgm:cxn modelId="{24136606-205C-45F9-A468-658030422BA5}" type="presParOf" srcId="{6CE25CA0-ED59-40D2-94F0-572BF6DBEC8F}" destId="{F48FDD27-A316-4F37-9FE6-C1F5F958B32F}" srcOrd="0" destOrd="0" presId="urn:microsoft.com/office/officeart/2005/8/layout/matrix3"/>
    <dgm:cxn modelId="{B15F4C7A-55D4-4C1E-8C5B-ED02086B33B3}" type="presParOf" srcId="{6CE25CA0-ED59-40D2-94F0-572BF6DBEC8F}" destId="{AAF790E1-A31B-4232-A33B-DF6817C280C3}" srcOrd="1" destOrd="0" presId="urn:microsoft.com/office/officeart/2005/8/layout/matrix3"/>
    <dgm:cxn modelId="{FE29D2B4-2308-488E-82BB-54EE6B887A1F}" type="presParOf" srcId="{6CE25CA0-ED59-40D2-94F0-572BF6DBEC8F}" destId="{EFD27C52-5235-4E65-AFDD-6D46EE2D53F2}" srcOrd="2" destOrd="0" presId="urn:microsoft.com/office/officeart/2005/8/layout/matrix3"/>
    <dgm:cxn modelId="{FBCBF640-3B18-457F-AB72-A622B88BF7B9}" type="presParOf" srcId="{6CE25CA0-ED59-40D2-94F0-572BF6DBEC8F}" destId="{FBE5F1EE-F0EE-418A-BC00-069955C5AB5F}" srcOrd="3" destOrd="0" presId="urn:microsoft.com/office/officeart/2005/8/layout/matrix3"/>
    <dgm:cxn modelId="{4D4ADA6B-987F-4929-BE73-8BCA7BB0E204}" type="presParOf" srcId="{6CE25CA0-ED59-40D2-94F0-572BF6DBEC8F}" destId="{69258403-8614-4543-A17D-CA80E45BE8E4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8FDD27-A316-4F37-9FE6-C1F5F958B32F}">
      <dsp:nvSpPr>
        <dsp:cNvPr id="0" name=""/>
        <dsp:cNvSpPr/>
      </dsp:nvSpPr>
      <dsp:spPr>
        <a:xfrm>
          <a:off x="1741147" y="0"/>
          <a:ext cx="3683358" cy="368335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F790E1-A31B-4232-A33B-DF6817C280C3}">
      <dsp:nvSpPr>
        <dsp:cNvPr id="0" name=""/>
        <dsp:cNvSpPr/>
      </dsp:nvSpPr>
      <dsp:spPr>
        <a:xfrm>
          <a:off x="2154751" y="349919"/>
          <a:ext cx="1436509" cy="143650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RNA‑seq gene expression</a:t>
          </a:r>
        </a:p>
      </dsp:txBody>
      <dsp:txXfrm>
        <a:off x="2224876" y="420044"/>
        <a:ext cx="1296259" cy="1296259"/>
      </dsp:txXfrm>
    </dsp:sp>
    <dsp:sp modelId="{EFD27C52-5235-4E65-AFDD-6D46EE2D53F2}">
      <dsp:nvSpPr>
        <dsp:cNvPr id="0" name=""/>
        <dsp:cNvSpPr/>
      </dsp:nvSpPr>
      <dsp:spPr>
        <a:xfrm>
          <a:off x="3701761" y="349919"/>
          <a:ext cx="1436509" cy="143650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Mutation calls (WES)</a:t>
          </a:r>
        </a:p>
      </dsp:txBody>
      <dsp:txXfrm>
        <a:off x="3771886" y="420044"/>
        <a:ext cx="1296259" cy="1296259"/>
      </dsp:txXfrm>
    </dsp:sp>
    <dsp:sp modelId="{FBE5F1EE-F0EE-418A-BC00-069955C5AB5F}">
      <dsp:nvSpPr>
        <dsp:cNvPr id="0" name=""/>
        <dsp:cNvSpPr/>
      </dsp:nvSpPr>
      <dsp:spPr>
        <a:xfrm>
          <a:off x="2154751" y="1896929"/>
          <a:ext cx="1436509" cy="143650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AML malignant cell‑state programs</a:t>
          </a:r>
        </a:p>
      </dsp:txBody>
      <dsp:txXfrm>
        <a:off x="2224876" y="1967054"/>
        <a:ext cx="1296259" cy="1296259"/>
      </dsp:txXfrm>
    </dsp:sp>
    <dsp:sp modelId="{69258403-8614-4543-A17D-CA80E45BE8E4}">
      <dsp:nvSpPr>
        <dsp:cNvPr id="0" name=""/>
        <dsp:cNvSpPr/>
      </dsp:nvSpPr>
      <dsp:spPr>
        <a:xfrm>
          <a:off x="3701761" y="1896929"/>
          <a:ext cx="1436509" cy="1436509"/>
        </a:xfrm>
        <a:prstGeom prst="roundRect">
          <a:avLst/>
        </a:prstGeom>
        <a:solidFill>
          <a:schemeClr val="tx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Clinical annotations and venetoclax drug response (AUC)</a:t>
          </a:r>
        </a:p>
      </dsp:txBody>
      <dsp:txXfrm>
        <a:off x="3771886" y="1967054"/>
        <a:ext cx="1296259" cy="12962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21036-D0A5-4DC3-836B-A5DF94EC9B66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0B923-C8DE-41C2-A818-B71C6D0881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6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"Hello everyone, my name is Pratibha Choudhary, and today I will present my capstone project on using artificial intelligence to predict treatment response in Acute Myeloid Leukemia, or AML.</a:t>
            </a:r>
          </a:p>
          <a:p>
            <a:r>
              <a:rPr lang="en-US" b="0" dirty="0"/>
              <a:t>Specifically, this project focuses on Venetoclax, a targeted therapy used for AML patients.</a:t>
            </a:r>
          </a:p>
          <a:p>
            <a:r>
              <a:rPr lang="en-US" b="0" dirty="0"/>
              <a:t>The goal of this work is to determine whether patient molecular data — what we call multi-omics data — can help us predict who will respond to treatment and who may be at higher clinical risk before therapy begins.“</a:t>
            </a:r>
          </a:p>
          <a:p>
            <a:endParaRPr lang="en-US" b="0" dirty="0"/>
          </a:p>
          <a:p>
            <a:r>
              <a:rPr lang="en-US" b="0" dirty="0"/>
              <a:t>Transition</a:t>
            </a:r>
          </a:p>
          <a:p>
            <a:r>
              <a:rPr lang="en-US" b="0" dirty="0"/>
              <a:t>"To understand why this problem matters, let me start with a clinical scenario."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0B923-C8DE-41C2-A818-B71C6D0881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68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08FE4-4A75-5F4A-17B6-0AEF91758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23D16-8282-04CB-DBC8-73F915BA8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1E0E9-1678-8A70-25FB-EBE526D1D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Imagine two patients diagnosed with the same type of leukemia.</a:t>
            </a:r>
          </a:p>
          <a:p>
            <a:pPr>
              <a:buNone/>
            </a:pPr>
            <a:r>
              <a:rPr lang="en-US" dirty="0"/>
              <a:t>Both receive the same targeted drug, Venetoclax.</a:t>
            </a:r>
            <a:br>
              <a:rPr lang="en-US" dirty="0"/>
            </a:br>
            <a:r>
              <a:rPr lang="en-US" dirty="0"/>
              <a:t>One patient responds extremely well and the leukemia cells disappear.</a:t>
            </a:r>
            <a:br>
              <a:rPr lang="en-US" dirty="0"/>
            </a:br>
            <a:r>
              <a:rPr lang="en-US" dirty="0"/>
              <a:t>But the other patient shows almost no response and the disease progresses.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Clinically, it is very difficult to predict which patient will benefit from this therapy.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In this project, I developed an AI approach that uses molecular data to predict treatment response and identify higher-risk patients before therapy begins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E60D0-A697-A23A-F101-95D028D74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00B923-C8DE-41C2-A818-B71C6D0881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153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Acute Myeloid Leukemia, or AML, is an aggressive blood cancer.</a:t>
            </a:r>
          </a:p>
          <a:p>
            <a:br>
              <a:rPr lang="en-US" dirty="0"/>
            </a:br>
            <a:r>
              <a:rPr lang="en-US" dirty="0"/>
              <a:t>Venetoclax is a targeted therapy that helps many AML patients, but not everyone responds to it.</a:t>
            </a:r>
          </a:p>
          <a:p>
            <a:endParaRPr lang="en-US" dirty="0"/>
          </a:p>
          <a:p>
            <a:r>
              <a:rPr lang="en-US" dirty="0"/>
              <a:t>In this project, I developed an AI pipeline that uses patient molecular data to predict two things:</a:t>
            </a:r>
            <a:br>
              <a:rPr lang="en-US" dirty="0"/>
            </a:br>
            <a:r>
              <a:rPr lang="en-US" dirty="0"/>
              <a:t>whether a patient is likely to respond to venetoclax and whether they may belong to a higher-risk disease group.</a:t>
            </a:r>
          </a:p>
          <a:p>
            <a:r>
              <a:rPr lang="en-US" dirty="0"/>
              <a:t>The goal is to move toward more personalized treatment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0B923-C8DE-41C2-A818-B71C6D0881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279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03256-6150-0E19-F01A-C89945D3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C48E-4325-1888-41AC-F3334D158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84660-54EF-1F1D-0EA2-605241AEA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Our modeling pipeline follows three main steps.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First, we extract biological features from molecular data, including gene-expression patterns, mutation information, and cell-state scores.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Next, these features are combined into a unified dataset for each patient sample.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Finally, we train machine learning models to predict treatment response and safety risk using cross-validation to ensure reliable performance estimates.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F1B22-3ED9-2B07-EF6D-8C7243D6C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00B923-C8DE-41C2-A818-B71C6D08814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600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887" y="504122"/>
            <a:ext cx="7851372" cy="3081242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AI Prediction of Venetoclax Response and Safety in Acute Myeloid Leukemia (AML) Patients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C50C4-1B34-7405-A531-DED7FE5B5467}"/>
              </a:ext>
            </a:extLst>
          </p:cNvPr>
          <p:cNvSpPr txBox="1"/>
          <p:nvPr/>
        </p:nvSpPr>
        <p:spPr>
          <a:xfrm>
            <a:off x="1487995" y="3429000"/>
            <a:ext cx="6301619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4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Dr. Pratibha Choudhary</a:t>
            </a:r>
          </a:p>
          <a:p>
            <a:pPr marL="0" marR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 algn="ctr">
              <a:buNone/>
            </a:pPr>
            <a:r>
              <a:rPr lang="en-US" sz="1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Northwestern University School of Professional Studies</a:t>
            </a:r>
          </a:p>
          <a:p>
            <a:pPr marL="0" marR="0" algn="ctr">
              <a:buNone/>
            </a:pPr>
            <a:r>
              <a:rPr lang="en-US" sz="1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Master of Science in Data Science</a:t>
            </a:r>
          </a:p>
          <a:p>
            <a:pPr marL="0" marR="0" algn="ctr">
              <a:buNone/>
            </a:pPr>
            <a:r>
              <a:rPr lang="en-US" sz="1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405 Church St, Evanston, IL 60201</a:t>
            </a:r>
          </a:p>
          <a:p>
            <a:pPr marL="0" marR="0" algn="ctr">
              <a:buNone/>
            </a:pPr>
            <a:r>
              <a:rPr lang="en-US" sz="1200" dirty="0">
                <a:solidFill>
                  <a:schemeClr val="bg1"/>
                </a:solidFill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900BD-3810-DDEB-6566-9CB40856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005" y="4830889"/>
            <a:ext cx="1200384" cy="120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9EEA2-ABE5-04B5-681A-3D589B8BA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8D7ED16-5145-9F0A-4B0F-8CD72952C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4F9862-C63F-E8D3-A8A1-0D75A3338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E3C859-E4DF-8830-962D-C49E46971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7E093F-EFB1-4BA0-D8B4-9EA06E0AB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F320F8-257D-5686-ACAB-6D440DB58E94}"/>
              </a:ext>
            </a:extLst>
          </p:cNvPr>
          <p:cNvSpPr txBox="1"/>
          <p:nvPr/>
        </p:nvSpPr>
        <p:spPr>
          <a:xfrm>
            <a:off x="989763" y="276694"/>
            <a:ext cx="7317247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Introduction and Problem Statement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Clinical Motivation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CF7531-6A85-A788-BDC1-1259A48EB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380" y="1712588"/>
            <a:ext cx="6978376" cy="465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56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BDC3FE-28DD-E4C4-5660-759027FFCA4B}"/>
              </a:ext>
            </a:extLst>
          </p:cNvPr>
          <p:cNvSpPr txBox="1"/>
          <p:nvPr/>
        </p:nvSpPr>
        <p:spPr>
          <a:xfrm>
            <a:off x="853774" y="296419"/>
            <a:ext cx="8116054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R="0" lvl="0" defTabSz="914400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Goal: Predict Response and Safety Risk Using Multi‑omics Based AI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C659C-D083-ECFE-292D-F91FFDBDF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28" y="1841118"/>
            <a:ext cx="6669902" cy="445216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569EE22-B877-B7A8-F128-8DEF2103659E}"/>
              </a:ext>
            </a:extLst>
          </p:cNvPr>
          <p:cNvSpPr/>
          <p:nvPr/>
        </p:nvSpPr>
        <p:spPr>
          <a:xfrm>
            <a:off x="4162642" y="2921028"/>
            <a:ext cx="2846302" cy="3193143"/>
          </a:xfrm>
          <a:prstGeom prst="ellipse">
            <a:avLst/>
          </a:prstGeom>
          <a:noFill/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74B1A-9A70-64A9-DEB8-83C70CFCF7D8}"/>
              </a:ext>
            </a:extLst>
          </p:cNvPr>
          <p:cNvSpPr txBox="1"/>
          <p:nvPr/>
        </p:nvSpPr>
        <p:spPr>
          <a:xfrm>
            <a:off x="7108895" y="3704251"/>
            <a:ext cx="2077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Patient Molecular data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“Multi-omics data” </a:t>
            </a:r>
          </a:p>
        </p:txBody>
      </p:sp>
    </p:spTree>
    <p:extLst>
      <p:ext uri="{BB962C8B-B14F-4D97-AF65-F5344CB8AC3E}">
        <p14:creationId xmlns:p14="http://schemas.microsoft.com/office/powerpoint/2010/main" val="2719739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Data: BeatAML2 (Multi-omics Dataset)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642589C-6E43-7D0E-31BB-A0C5D1D74A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222190"/>
              </p:ext>
            </p:extLst>
          </p:nvPr>
        </p:nvGraphicFramePr>
        <p:xfrm>
          <a:off x="893001" y="2532170"/>
          <a:ext cx="7293023" cy="3683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EF5976-B134-45AE-B833-FE1746E62421}"/>
              </a:ext>
            </a:extLst>
          </p:cNvPr>
          <p:cNvSpPr txBox="1"/>
          <p:nvPr/>
        </p:nvSpPr>
        <p:spPr>
          <a:xfrm>
            <a:off x="2636390" y="1839672"/>
            <a:ext cx="4708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Large AML cohort (805 patients)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E2A83-045C-25AE-9C7C-1F9E77741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967557F-197B-B96B-05BF-76F1805DE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D397DB-A957-157A-4F55-7FCBE4F30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0FC3BE-01FB-257B-AA67-8B07B80AA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8AADC2-4590-886C-03D0-595875D9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DFB2E6-5F07-21A4-1ACF-59FF6EE2B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DB345-5219-9D5C-98C4-93EF319FB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Modeling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B5166D-0773-E0F1-D42E-571EDA59FDB3}"/>
              </a:ext>
            </a:extLst>
          </p:cNvPr>
          <p:cNvSpPr txBox="1"/>
          <p:nvPr/>
        </p:nvSpPr>
        <p:spPr>
          <a:xfrm>
            <a:off x="2337522" y="2567728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F156301-3BE9-CBB2-37A8-F06DA4F05C0D}"/>
              </a:ext>
            </a:extLst>
          </p:cNvPr>
          <p:cNvGrpSpPr/>
          <p:nvPr/>
        </p:nvGrpSpPr>
        <p:grpSpPr>
          <a:xfrm>
            <a:off x="1330907" y="2015519"/>
            <a:ext cx="2317304" cy="513230"/>
            <a:chOff x="2154751" y="349919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B20424-AB23-64B8-1997-2FC758F155FE}"/>
                </a:ext>
              </a:extLst>
            </p:cNvPr>
            <p:cNvSpPr/>
            <p:nvPr/>
          </p:nvSpPr>
          <p:spPr>
            <a:xfrm>
              <a:off x="2154751" y="349919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84F9C58-E885-F574-00AF-9357887AA149}"/>
                </a:ext>
              </a:extLst>
            </p:cNvPr>
            <p:cNvSpPr txBox="1"/>
            <p:nvPr/>
          </p:nvSpPr>
          <p:spPr>
            <a:xfrm>
              <a:off x="2454111" y="525044"/>
              <a:ext cx="1100934" cy="99810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Patient samples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C9E60A-5848-069B-6130-DD778892531B}"/>
              </a:ext>
            </a:extLst>
          </p:cNvPr>
          <p:cNvGrpSpPr/>
          <p:nvPr/>
        </p:nvGrpSpPr>
        <p:grpSpPr>
          <a:xfrm>
            <a:off x="782596" y="2878504"/>
            <a:ext cx="3783090" cy="715507"/>
            <a:chOff x="2154751" y="349919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7EDFE80-4477-CD9F-91D9-70772465CD91}"/>
                </a:ext>
              </a:extLst>
            </p:cNvPr>
            <p:cNvSpPr/>
            <p:nvPr/>
          </p:nvSpPr>
          <p:spPr>
            <a:xfrm>
              <a:off x="2154751" y="349919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: Rounded Corners 4">
              <a:extLst>
                <a:ext uri="{FF2B5EF4-FFF2-40B4-BE49-F238E27FC236}">
                  <a16:creationId xmlns:a16="http://schemas.microsoft.com/office/drawing/2014/main" id="{DE5A122F-9C98-4898-AB15-AFBFC00C6741}"/>
                </a:ext>
              </a:extLst>
            </p:cNvPr>
            <p:cNvSpPr txBox="1"/>
            <p:nvPr/>
          </p:nvSpPr>
          <p:spPr>
            <a:xfrm>
              <a:off x="2224876" y="420044"/>
              <a:ext cx="1296259" cy="12962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Multi-omics data (BeatAML2)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RNA-seq | Mutations | Cell states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98F0B1-80F2-4455-976C-D81F0EC6A8B4}"/>
              </a:ext>
            </a:extLst>
          </p:cNvPr>
          <p:cNvGrpSpPr/>
          <p:nvPr/>
        </p:nvGrpSpPr>
        <p:grpSpPr>
          <a:xfrm>
            <a:off x="724314" y="3956188"/>
            <a:ext cx="3783090" cy="977969"/>
            <a:chOff x="2045257" y="1716304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B059A5D-C831-BB4F-1F98-83BF10CD2101}"/>
                </a:ext>
              </a:extLst>
            </p:cNvPr>
            <p:cNvSpPr/>
            <p:nvPr/>
          </p:nvSpPr>
          <p:spPr>
            <a:xfrm>
              <a:off x="2045257" y="1716304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: Rounded Corners 4">
              <a:extLst>
                <a:ext uri="{FF2B5EF4-FFF2-40B4-BE49-F238E27FC236}">
                  <a16:creationId xmlns:a16="http://schemas.microsoft.com/office/drawing/2014/main" id="{7427605F-1162-2FFA-0DF4-D6DA0801D57C}"/>
                </a:ext>
              </a:extLst>
            </p:cNvPr>
            <p:cNvSpPr txBox="1"/>
            <p:nvPr/>
          </p:nvSpPr>
          <p:spPr>
            <a:xfrm>
              <a:off x="2126011" y="1841323"/>
              <a:ext cx="1296259" cy="120086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Feature engineering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Genes200 | WGCNA modules | Pathway Signatures | Random forest generated (RF8) gene panel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457C086-EF2D-05D9-67A4-1ABBE4423AC7}"/>
              </a:ext>
            </a:extLst>
          </p:cNvPr>
          <p:cNvGrpSpPr/>
          <p:nvPr/>
        </p:nvGrpSpPr>
        <p:grpSpPr>
          <a:xfrm>
            <a:off x="653609" y="5238864"/>
            <a:ext cx="3797730" cy="1050418"/>
            <a:chOff x="2064277" y="1601968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D952FE3-9883-9A27-0ADA-ECB97B9F8F8E}"/>
                </a:ext>
              </a:extLst>
            </p:cNvPr>
            <p:cNvSpPr/>
            <p:nvPr/>
          </p:nvSpPr>
          <p:spPr>
            <a:xfrm>
              <a:off x="2064277" y="1601968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Rectangle: Rounded Corners 4">
              <a:extLst>
                <a:ext uri="{FF2B5EF4-FFF2-40B4-BE49-F238E27FC236}">
                  <a16:creationId xmlns:a16="http://schemas.microsoft.com/office/drawing/2014/main" id="{98ECCB89-8C44-DEC6-5A62-23A9E9323D96}"/>
                </a:ext>
              </a:extLst>
            </p:cNvPr>
            <p:cNvSpPr txBox="1"/>
            <p:nvPr/>
          </p:nvSpPr>
          <p:spPr>
            <a:xfrm>
              <a:off x="2131995" y="1801496"/>
              <a:ext cx="1296259" cy="1122857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Feature engineering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Genes200 | WGCNA modules | Pathway Signatures | Random forest generated (RF8) gene panel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615A72E-B198-E348-AF28-03B36B2802ED}"/>
              </a:ext>
            </a:extLst>
          </p:cNvPr>
          <p:cNvGrpSpPr/>
          <p:nvPr/>
        </p:nvGrpSpPr>
        <p:grpSpPr>
          <a:xfrm>
            <a:off x="4850269" y="2825910"/>
            <a:ext cx="3783089" cy="792366"/>
            <a:chOff x="2154751" y="349919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CF1AE0D-BB32-00AF-9587-1F4CDBDE7625}"/>
                </a:ext>
              </a:extLst>
            </p:cNvPr>
            <p:cNvSpPr/>
            <p:nvPr/>
          </p:nvSpPr>
          <p:spPr>
            <a:xfrm>
              <a:off x="2154751" y="349919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: Rounded Corners 4">
              <a:extLst>
                <a:ext uri="{FF2B5EF4-FFF2-40B4-BE49-F238E27FC236}">
                  <a16:creationId xmlns:a16="http://schemas.microsoft.com/office/drawing/2014/main" id="{3CA4CF9C-338B-6E1D-D761-4A5E1AB3E1D8}"/>
                </a:ext>
              </a:extLst>
            </p:cNvPr>
            <p:cNvSpPr txBox="1"/>
            <p:nvPr/>
          </p:nvSpPr>
          <p:spPr>
            <a:xfrm>
              <a:off x="2269029" y="461810"/>
              <a:ext cx="1296259" cy="1296259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Machine learning models</a:t>
              </a:r>
            </a:p>
            <a:p>
              <a:r>
                <a:rPr lang="en-US" sz="1400" dirty="0">
                  <a:solidFill>
                    <a:schemeClr val="bg1"/>
                  </a:solidFill>
                </a:rPr>
                <a:t>Logistic regression | Neural network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DBD1AEC-06CF-558E-E28F-F5D25CB389E0}"/>
              </a:ext>
            </a:extLst>
          </p:cNvPr>
          <p:cNvGrpSpPr/>
          <p:nvPr/>
        </p:nvGrpSpPr>
        <p:grpSpPr>
          <a:xfrm>
            <a:off x="4977261" y="3966236"/>
            <a:ext cx="3738492" cy="984104"/>
            <a:chOff x="2154751" y="340864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774E078-C183-640A-44AB-10F5A1A3B1AA}"/>
                </a:ext>
              </a:extLst>
            </p:cNvPr>
            <p:cNvSpPr/>
            <p:nvPr/>
          </p:nvSpPr>
          <p:spPr>
            <a:xfrm>
              <a:off x="2154751" y="340864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: Rounded Corners 4">
              <a:extLst>
                <a:ext uri="{FF2B5EF4-FFF2-40B4-BE49-F238E27FC236}">
                  <a16:creationId xmlns:a16="http://schemas.microsoft.com/office/drawing/2014/main" id="{EF0A16AE-960B-99E5-FB8B-A1BB93E90DD2}"/>
                </a:ext>
              </a:extLst>
            </p:cNvPr>
            <p:cNvSpPr txBox="1"/>
            <p:nvPr/>
          </p:nvSpPr>
          <p:spPr>
            <a:xfrm>
              <a:off x="2306898" y="488181"/>
              <a:ext cx="1100934" cy="99810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/>
                <a:t>Prediction</a:t>
              </a:r>
            </a:p>
            <a:p>
              <a:r>
                <a:rPr lang="en-US" sz="1400" dirty="0"/>
                <a:t>Response | Safety risk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9C1B9D9-9277-62DD-2D1D-EF139946713A}"/>
              </a:ext>
            </a:extLst>
          </p:cNvPr>
          <p:cNvGrpSpPr/>
          <p:nvPr/>
        </p:nvGrpSpPr>
        <p:grpSpPr>
          <a:xfrm>
            <a:off x="4981970" y="5278463"/>
            <a:ext cx="3811082" cy="1033669"/>
            <a:chOff x="2154751" y="349919"/>
            <a:chExt cx="1436509" cy="1436509"/>
          </a:xfrm>
          <a:solidFill>
            <a:schemeClr val="tx2">
              <a:lumMod val="75000"/>
            </a:schemeClr>
          </a:solidFill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8A4A595C-2676-262D-C561-D390B3BC3AF1}"/>
                </a:ext>
              </a:extLst>
            </p:cNvPr>
            <p:cNvSpPr/>
            <p:nvPr/>
          </p:nvSpPr>
          <p:spPr>
            <a:xfrm>
              <a:off x="2154751" y="349919"/>
              <a:ext cx="1436509" cy="1436509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31DBC4B5-A796-612D-4533-93038B9E5ABB}"/>
                </a:ext>
              </a:extLst>
            </p:cNvPr>
            <p:cNvSpPr txBox="1"/>
            <p:nvPr/>
          </p:nvSpPr>
          <p:spPr>
            <a:xfrm>
              <a:off x="2249239" y="525043"/>
              <a:ext cx="1305806" cy="998105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57150" tIns="57150" rIns="57150" bIns="57150" numCol="1" spcCol="1270" anchor="ctr" anchorCtr="0">
              <a:noAutofit/>
            </a:bodyPr>
            <a:lstStyle/>
            <a:p>
              <a:r>
                <a:rPr lang="en-US" sz="1400" b="1" dirty="0"/>
                <a:t>Evaluation methods:</a:t>
              </a:r>
              <a:r>
                <a:rPr lang="en-US" sz="1400" dirty="0"/>
                <a:t> 5‑fold cross‑validation using AUROC and AUPRC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6E60E3AA-3CEB-0267-9548-23F2E93B099E}"/>
              </a:ext>
            </a:extLst>
          </p:cNvPr>
          <p:cNvSpPr txBox="1"/>
          <p:nvPr/>
        </p:nvSpPr>
        <p:spPr>
          <a:xfrm>
            <a:off x="2283931" y="3594010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99CCA4-87D1-CB76-8D74-9E7AAEA34315}"/>
              </a:ext>
            </a:extLst>
          </p:cNvPr>
          <p:cNvSpPr txBox="1"/>
          <p:nvPr/>
        </p:nvSpPr>
        <p:spPr>
          <a:xfrm>
            <a:off x="2322863" y="4927002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A7E0C-6DAC-71A4-51ED-17A655998BAF}"/>
              </a:ext>
            </a:extLst>
          </p:cNvPr>
          <p:cNvSpPr txBox="1"/>
          <p:nvPr/>
        </p:nvSpPr>
        <p:spPr>
          <a:xfrm>
            <a:off x="6428187" y="2518296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5A62E5-2FFA-A8F3-190D-91B97C732170}"/>
              </a:ext>
            </a:extLst>
          </p:cNvPr>
          <p:cNvSpPr txBox="1"/>
          <p:nvPr/>
        </p:nvSpPr>
        <p:spPr>
          <a:xfrm>
            <a:off x="6428187" y="3577067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64E696-5B04-433E-62B8-0EA0E44B1B9E}"/>
              </a:ext>
            </a:extLst>
          </p:cNvPr>
          <p:cNvSpPr txBox="1"/>
          <p:nvPr/>
        </p:nvSpPr>
        <p:spPr>
          <a:xfrm>
            <a:off x="6537103" y="4923777"/>
            <a:ext cx="429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340453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Baseline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275" y="1287264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Genes200 + </a:t>
            </a:r>
            <a:r>
              <a:rPr lang="en-US" sz="2000" dirty="0" err="1"/>
              <a:t>CellTypes</a:t>
            </a:r>
            <a:r>
              <a:rPr lang="en-US" sz="2000" dirty="0"/>
              <a:t> + Mut50 AUROC ≈ 0.86</a:t>
            </a:r>
          </a:p>
          <a:p>
            <a:r>
              <a:rPr lang="en-US" sz="2000" dirty="0"/>
              <a:t>WGCNA modules AUROC ≈ 0.83</a:t>
            </a:r>
          </a:p>
          <a:p>
            <a:r>
              <a:rPr lang="en-US" sz="2000" dirty="0"/>
              <a:t>Signature features AUROC ≈ 0.84</a:t>
            </a:r>
          </a:p>
          <a:p>
            <a:r>
              <a:rPr lang="en-US" sz="2000" dirty="0"/>
              <a:t>Safety prediction AUROC ≈ 0.80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7927" y="248038"/>
            <a:ext cx="7390340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Performance Comparison</a:t>
            </a:r>
          </a:p>
        </p:txBody>
      </p:sp>
      <p:pic>
        <p:nvPicPr>
          <p:cNvPr id="3" name="Picture 2" descr="44f466f9-4358-40f2-9c18-b3e8abb4a9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42" y="1701968"/>
            <a:ext cx="8629754" cy="5156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B0418-7384-5B70-9646-C17CB81E1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E049686-6C79-B9ED-4D93-4EC732757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B427C3-1D3C-BBAA-5DD9-F56141DCC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4D3670-1450-B448-8B87-D79B7903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72EEA6-A187-E4A1-B675-69713C551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4B369-84EC-B7CD-999B-7BB2F3AF0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91" y="252772"/>
            <a:ext cx="677354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ROC Curves Across Major Models For Venetoclax Response Prediction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E675A-ACA5-A176-C893-E0F13B1F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75" y="1942529"/>
            <a:ext cx="5315578" cy="454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62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5F4345-0434-1827-EA0E-CB399DBB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17020E-6C95-4EE0-8371-5A669655B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B6471-1F84-FF57-889C-B9CFBA2E9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DD5B40-BF58-28AC-74A3-0C4A48DFD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6082FE-3ABF-E626-78B1-91FA40EF5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B7E3E-347B-CC48-CA73-C37C54F7D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91" y="252772"/>
            <a:ext cx="677354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ROC Curves Across Major Models For Venetoclax Safety Prediction 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540C9ECE-7BB4-2278-D9A8-27469F8FB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179" y="1893990"/>
            <a:ext cx="5127321" cy="438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2759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787414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Biological Features Driving Venetoclax Response</a:t>
            </a:r>
          </a:p>
        </p:txBody>
      </p:sp>
      <p:pic>
        <p:nvPicPr>
          <p:cNvPr id="3" name="Picture 2" descr="5749df67-2861-4ca0-ad14-2aca08119f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17" y="1989499"/>
            <a:ext cx="6270647" cy="44521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358038-D918-2589-CEA2-C3463CACF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364" y="2170682"/>
            <a:ext cx="1316336" cy="7404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851" y="227493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AML Mutation Landscape</a:t>
            </a:r>
          </a:p>
        </p:txBody>
      </p:sp>
      <p:pic>
        <p:nvPicPr>
          <p:cNvPr id="3" name="Picture 2" descr="904a948b-4a8d-4dab-a624-831875111e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3" y="1966293"/>
            <a:ext cx="7879931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498" y="367545"/>
            <a:ext cx="730325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Oncoprint</a:t>
            </a: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of Top AML Mutations</a:t>
            </a:r>
          </a:p>
        </p:txBody>
      </p:sp>
      <p:pic>
        <p:nvPicPr>
          <p:cNvPr id="3" name="Picture 2" descr="924647cc-666a-4394-8350-1bfbcb4f3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88" y="1894290"/>
            <a:ext cx="8495662" cy="42053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641" y="339610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Key Biological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566" y="1244140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Monocytic differentiation is strongly associated with reduced venetoclax response</a:t>
            </a:r>
          </a:p>
          <a:p>
            <a:r>
              <a:rPr lang="en-US" sz="2000" dirty="0"/>
              <a:t>Inflammatory signaling and metabolic programs also contribute</a:t>
            </a:r>
          </a:p>
          <a:p>
            <a:r>
              <a:rPr lang="en-US" sz="2000" dirty="0"/>
              <a:t>Highlights the importance of AML cell state in therapy resistance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087654-1B9E-460E-854B-DB80B28AAF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72" t="9383" r="6465" b="13453"/>
          <a:stretch>
            <a:fillRect/>
          </a:stretch>
        </p:blipFill>
        <p:spPr>
          <a:xfrm>
            <a:off x="681519" y="940286"/>
            <a:ext cx="7548081" cy="4977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928B65-5EF1-2820-BE9C-E68548FC3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843" y="639052"/>
            <a:ext cx="8369844" cy="557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5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509" y="327819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569" y="154126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Multi‑omics AI models can predict venetoclax response in AML</a:t>
            </a:r>
          </a:p>
          <a:p>
            <a:r>
              <a:rPr lang="en-US" sz="2000" dirty="0"/>
              <a:t>Biological program features preserve predictive signal</a:t>
            </a:r>
          </a:p>
          <a:p>
            <a:r>
              <a:rPr lang="en-US" sz="2000" dirty="0"/>
              <a:t>Multitask neural networks achieve the strongest overall performance</a:t>
            </a:r>
          </a:p>
          <a:p>
            <a:r>
              <a:rPr lang="en-US" sz="2000" dirty="0"/>
              <a:t>Potential application for biomarker discovery and precision medicine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9941F-2030-0432-FF62-6365EE14F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AF3B37-2D03-4A03-A34B-3CF3F758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42" y="279237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Acknowledgment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55B4E6-E187-F80F-4F4F-08A4A140F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569" y="154126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Open sourced BeatAML2 dataset</a:t>
            </a:r>
          </a:p>
          <a:p>
            <a:r>
              <a:rPr lang="en-US" sz="2000" dirty="0"/>
              <a:t>MSDS Northwestern University</a:t>
            </a:r>
          </a:p>
          <a:p>
            <a:r>
              <a:rPr lang="en-US" sz="2000" dirty="0"/>
              <a:t>All MSDS faculty</a:t>
            </a:r>
          </a:p>
          <a:p>
            <a:r>
              <a:rPr lang="en-US" sz="2000" dirty="0"/>
              <a:t>Special thanks to Prof. Alianna J. Maren for her “portfolio-driven approach to this capstone project”.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72FD8A5-FA5F-E5F6-9825-AE8ABB751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542" y="424302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135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693</Words>
  <Application>Microsoft Office PowerPoint</Application>
  <PresentationFormat>On-screen Show (4:3)</PresentationFormat>
  <Paragraphs>89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AI Prediction of Venetoclax Response and Safety in Acute Myeloid Leukemia (AML) Patients</vt:lpstr>
      <vt:lpstr>PowerPoint Presentation</vt:lpstr>
      <vt:lpstr>PowerPoint Presentation</vt:lpstr>
      <vt:lpstr>Data: BeatAML2 (Multi-omics Dataset)</vt:lpstr>
      <vt:lpstr>Modeling Pipeline</vt:lpstr>
      <vt:lpstr>Baseline Model Performance</vt:lpstr>
      <vt:lpstr>Model Performance Comparison</vt:lpstr>
      <vt:lpstr>ROC Curves Across Major Models For Venetoclax Response Prediction </vt:lpstr>
      <vt:lpstr>ROC Curves Across Major Models For Venetoclax Safety Prediction </vt:lpstr>
      <vt:lpstr>Top Biological Features Driving Venetoclax Response</vt:lpstr>
      <vt:lpstr>AML Mutation Landscape</vt:lpstr>
      <vt:lpstr>Oncoprint of Top AML Mutations</vt:lpstr>
      <vt:lpstr>Key Biological Insight</vt:lpstr>
      <vt:lpstr>PowerPoint Presentation</vt:lpstr>
      <vt:lpstr>Conclusions</vt:lpstr>
      <vt:lpstr>Acknowledgment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pratt</dc:creator>
  <cp:keywords/>
  <dc:description>generated using python-pptx</dc:description>
  <cp:lastModifiedBy>pratibha choudhary</cp:lastModifiedBy>
  <cp:revision>34</cp:revision>
  <dcterms:created xsi:type="dcterms:W3CDTF">2013-01-27T09:14:16Z</dcterms:created>
  <dcterms:modified xsi:type="dcterms:W3CDTF">2026-03-08T18:59:28Z</dcterms:modified>
  <cp:category/>
</cp:coreProperties>
</file>